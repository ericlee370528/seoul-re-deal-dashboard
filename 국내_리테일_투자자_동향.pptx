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702E7-340B-45EC-8622-CA6624011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81B27E-9F73-4BDA-AF6F-9816BEA31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74335-E13D-4B11-ACEE-DA4435AC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32661-8AD8-4E32-B14E-531278AD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C9CA0-7A07-46D2-9B61-009745DD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08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7B6E0-11D7-4C28-BCEE-8D8031A6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BE6F52-C55A-47A6-9CF1-7E0E72D5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D3DA7F-5EFF-4CB9-B398-6A418D02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9443DD-A3C6-4D11-A941-29DD440D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F0B93-3A3F-4EF4-B04E-B36D355A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48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7D3EF-5151-4A34-AE13-1A5B57F3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998F46-AC4E-4F2D-B086-AAFAF2794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A2BFD-00C2-42AC-A4EA-AB142810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B9A14-69EC-42B7-8CC1-495DDA31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36D4AB-C71E-434B-8955-8AE668E9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EB9AC-3B5F-4328-BF6F-3F6368C3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3CEE94-7B89-496E-A065-1E33D3A7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F5EB96-BFAA-4523-B1D1-B4EAC07F1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0101D-A912-4A0C-A308-DCD84B7B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BBBFF0-7D2A-4FD3-8FB8-A9344C72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FFCA54-FEC4-4D05-A4BF-B809E76E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36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4CB78-E5A0-4871-9EAD-F55909263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27D76C-9E40-493B-9E0B-68C64BAA2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2AE6BA-64A1-4A53-966B-7EE547E94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DC54E-BFB2-4AA7-BC40-C6B1BE080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B98F86-C40F-41E3-AFDA-7798BA4F8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E6D868-F998-4CF9-A862-088BED14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2E18D8-5221-4844-94F3-1CE07674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F9C8C6-EA7B-42A5-B169-EFF92804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4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04E12-E9CA-43E4-8D35-277FB780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B1B600-6D07-4AD3-BB3C-31A05820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A3D017-945B-4724-8D68-CF84330B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08546B-64F4-404F-9333-4C5D850A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9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5070D2-35D2-411C-B69F-149A88E8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6AA52C-E083-4E26-B6DE-F9E9FC3A2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528E8-AB60-42E6-BFB7-79B6C958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85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456CA-2F17-45D7-898E-87A05D544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981BB-464D-4B3C-A240-80D7AE291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F00687-D182-4EFF-8F1D-0A7A662F8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9C575F-D972-4C70-9126-BD330845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4A9C87-9709-4413-9D28-D5D633E2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F51A18-EB98-4225-A7F5-C1AA3751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1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F39FC-EFC2-456F-834C-CFF4426D2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1D78AF-7F5C-4354-B22F-1AF59553B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D6691B-7723-499E-8CA5-AFD8B928E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EFE37D-D8CA-4DE2-9277-0BEA9440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E4BDAB-1550-4057-B295-783DB668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D16B5C-ECAF-4838-90C1-20101B3F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23B3C-1E81-4ED5-B533-DDF7D205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44FE6B-BF85-4C47-BBBF-6517BF63D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767F6D-F342-460A-82EA-4CCFE377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B9B6A-84E8-4E34-8B8E-87AB8A7F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DFD16-5A27-44DE-A570-6D61CA9B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40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DB75E5-D546-41A7-89F6-0E0334871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11B2CF-0AFF-4E09-8061-B2B48E75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CF3D7-C324-4197-A4CA-871C3C3F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794AA3-C037-4DBB-BF3D-71897D97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E6BA5-7B15-4715-BF99-D586BF05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416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756D5-165F-4B44-AB94-E413FD38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6A7AD0-96D9-45C9-921A-85C455200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18C75-9858-4A4D-ACDA-77D3E06E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D298D6-6138-4506-8969-309D1591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4C740-B5A2-4145-9DC3-29968D59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4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5A150D-9259-48C4-A9BE-C19BE3FE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A294C3-0CC6-4B78-8122-DBE036F3E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062FA8-8B21-44E2-93E2-1601BC1F9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CAA2C-9120-4DC7-82EC-CF4D06E502A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79DFB7-7EEE-4076-A1EF-E508B7F18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852D8-10B7-47FF-8E64-17301C2B7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1B976-3E10-4278-8469-FCCE630B8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60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3B233-C235-4DE3-B7D0-D6DC46E4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리테일 자금</a:t>
            </a:r>
            <a:r>
              <a:rPr lang="en-US" altLang="ko-KR"/>
              <a:t>, </a:t>
            </a:r>
            <a:r>
              <a:rPr lang="ko-KR" altLang="en-US"/>
              <a:t>부동산</a:t>
            </a:r>
            <a:r>
              <a:rPr lang="en-US" altLang="ko-KR"/>
              <a:t>·</a:t>
            </a:r>
            <a:r>
              <a:rPr lang="ko-KR" altLang="en-US"/>
              <a:t>가상자산에서 이탈해 국내외 주식으로 이동 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93CE2F-97A4-4934-BA86-388D0BBBA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2026</a:t>
            </a:r>
            <a:r>
              <a:rPr lang="ko-KR" altLang="en-US" sz="2400"/>
              <a:t>년 개인 순매수가 단기간 급증하며 코스피 강세장을 견인
반면 가상자산 거래는 위축</a:t>
            </a:r>
            <a:r>
              <a:rPr lang="en-US" altLang="ko-KR" sz="2400"/>
              <a:t>, </a:t>
            </a:r>
            <a:r>
              <a:rPr lang="ko-KR" altLang="en-US" sz="2400"/>
              <a:t>부동산은 정책발 수요 억제 국면</a:t>
            </a:r>
          </a:p>
        </p:txBody>
      </p:sp>
    </p:spTree>
    <p:extLst>
      <p:ext uri="{BB962C8B-B14F-4D97-AF65-F5344CB8AC3E}">
        <p14:creationId xmlns:p14="http://schemas.microsoft.com/office/powerpoint/2010/main" val="316583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9D8BF-335A-4991-80AC-C1FCD3B8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주식은 급증</a:t>
            </a:r>
            <a:r>
              <a:rPr lang="en-US" altLang="ko-KR"/>
              <a:t>, </a:t>
            </a:r>
            <a:r>
              <a:rPr lang="ko-KR" altLang="en-US"/>
              <a:t>가상자산은 위축 </a:t>
            </a:r>
            <a:r>
              <a:rPr lang="en-US" altLang="ko-KR"/>
              <a:t>— </a:t>
            </a:r>
            <a:r>
              <a:rPr lang="ko-KR" altLang="en-US"/>
              <a:t>자금 이동의 명확한 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52A119-58B7-493F-A72D-029BCB042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/>
              <a:t>개인 순매수 </a:t>
            </a:r>
            <a:r>
              <a:rPr lang="en-US" altLang="ko-KR" sz="2400"/>
              <a:t>201.9</a:t>
            </a:r>
            <a:r>
              <a:rPr lang="ko-KR" altLang="en-US" sz="2400"/>
              <a:t>조 원</a:t>
            </a:r>
            <a:r>
              <a:rPr lang="en-US" altLang="ko-KR" sz="2400"/>
              <a:t>, 3</a:t>
            </a:r>
            <a:r>
              <a:rPr lang="ko-KR" altLang="en-US" sz="2400"/>
              <a:t>개월 만에 </a:t>
            </a:r>
            <a:r>
              <a:rPr lang="en-US" altLang="ko-KR" sz="2400"/>
              <a:t>2</a:t>
            </a:r>
            <a:r>
              <a:rPr lang="ko-KR" altLang="en-US" sz="2400"/>
              <a:t>배</a:t>
            </a:r>
            <a:r>
              <a:rPr lang="en-US" altLang="ko-KR" sz="2400"/>
              <a:t>·</a:t>
            </a:r>
            <a:r>
              <a:rPr lang="ko-KR" altLang="en-US" sz="2400"/>
              <a:t>전년 대비 </a:t>
            </a:r>
            <a:r>
              <a:rPr lang="en-US" altLang="ko-KR" sz="2400"/>
              <a:t>15</a:t>
            </a:r>
            <a:r>
              <a:rPr lang="ko-KR" altLang="en-US" sz="2400"/>
              <a:t>배 증가
가상자산 거래대금 </a:t>
            </a:r>
            <a:r>
              <a:rPr lang="en-US" altLang="ko-KR" sz="2400"/>
              <a:t>15%↓·</a:t>
            </a:r>
            <a:r>
              <a:rPr lang="ko-KR" altLang="en-US" sz="2400"/>
              <a:t>거래소 손익 </a:t>
            </a:r>
            <a:r>
              <a:rPr lang="en-US" altLang="ko-KR" sz="2400"/>
              <a:t>38%↓, </a:t>
            </a:r>
            <a:r>
              <a:rPr lang="ko-KR" altLang="en-US" sz="2400"/>
              <a:t>단 규제 관망 심리 영향도 배제 불가</a:t>
            </a:r>
          </a:p>
        </p:txBody>
      </p:sp>
    </p:spTree>
    <p:extLst>
      <p:ext uri="{BB962C8B-B14F-4D97-AF65-F5344CB8AC3E}">
        <p14:creationId xmlns:p14="http://schemas.microsoft.com/office/powerpoint/2010/main" val="3881767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125DA-CD5D-43D5-8412-856CBA82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부동산은 지역별 상반</a:t>
            </a:r>
            <a:r>
              <a:rPr lang="en-US" altLang="ko-KR"/>
              <a:t>, </a:t>
            </a:r>
            <a:r>
              <a:rPr lang="ko-KR" altLang="en-US"/>
              <a:t>데이터 해석엔 유의 필요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B73A4E-DEBF-4B8E-8FAB-345437DBB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/>
              <a:t>대출</a:t>
            </a:r>
            <a:r>
              <a:rPr lang="en-US" altLang="ko-KR" sz="2400"/>
              <a:t>·</a:t>
            </a:r>
            <a:r>
              <a:rPr lang="ko-KR" altLang="en-US" sz="2400"/>
              <a:t>양도세</a:t>
            </a:r>
            <a:r>
              <a:rPr lang="en-US" altLang="ko-KR" sz="2400"/>
              <a:t>·</a:t>
            </a:r>
            <a:r>
              <a:rPr lang="ko-KR" altLang="en-US" sz="2400"/>
              <a:t>보유세 규제로 수요 억제 지속되나 수도권 핵심지는 가격 방어</a:t>
            </a:r>
            <a:r>
              <a:rPr lang="en-US" altLang="ko-KR" sz="2400"/>
              <a:t>, </a:t>
            </a:r>
            <a:r>
              <a:rPr lang="ko-KR" altLang="en-US" sz="2400"/>
              <a:t>지방은 약세
개인 순매수 수치는 출처별 편차 큼</a:t>
            </a:r>
            <a:r>
              <a:rPr lang="en-US" altLang="ko-KR" sz="2400"/>
              <a:t>(201.9</a:t>
            </a:r>
            <a:r>
              <a:rPr lang="ko-KR" altLang="en-US" sz="2400"/>
              <a:t>조 </a:t>
            </a:r>
            <a:r>
              <a:rPr lang="en-US" altLang="ko-KR" sz="2400"/>
              <a:t>vs 55</a:t>
            </a:r>
            <a:r>
              <a:rPr lang="ko-KR" altLang="en-US" sz="2400"/>
              <a:t>조</a:t>
            </a:r>
            <a:r>
              <a:rPr lang="en-US" altLang="ko-KR" sz="2400"/>
              <a:t>) — </a:t>
            </a:r>
            <a:r>
              <a:rPr lang="ko-KR" altLang="en-US" sz="2400"/>
              <a:t>인용 시 출처</a:t>
            </a:r>
            <a:r>
              <a:rPr lang="en-US" altLang="ko-KR" sz="2400"/>
              <a:t>·</a:t>
            </a:r>
            <a:r>
              <a:rPr lang="ko-KR" altLang="en-US" sz="2400"/>
              <a:t>범위 명시 필수</a:t>
            </a:r>
          </a:p>
        </p:txBody>
      </p:sp>
    </p:spTree>
    <p:extLst>
      <p:ext uri="{BB962C8B-B14F-4D97-AF65-F5344CB8AC3E}">
        <p14:creationId xmlns:p14="http://schemas.microsoft.com/office/powerpoint/2010/main" val="258684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리테일 자금, 부동산·가상자산에서 이탈해 국내외 주식으로 이동 중</vt:lpstr>
      <vt:lpstr>주식은 급증, 가상자산은 위축 — 자금 이동의 명확한 대비</vt:lpstr>
      <vt:lpstr>부동산은 지역별 상반, 데이터 해석엔 유의 필요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리테일 자금, 부동산·가상자산에서 이탈해 국내외 주식으로 이동 중</dc:title>
  <dc:creator>user</dc:creator>
  <cp:lastModifiedBy>user</cp:lastModifiedBy>
  <cp:revision>1</cp:revision>
  <dcterms:created xsi:type="dcterms:W3CDTF">2026-08-12T00:09:44Z</dcterms:created>
  <dcterms:modified xsi:type="dcterms:W3CDTF">2026-08-12T00:09:44Z</dcterms:modified>
</cp:coreProperties>
</file>